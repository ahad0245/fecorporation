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 | MAY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MILESTONE-GATED INDIGENOUS AGRICULTURAL 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1E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Indigenous Garlic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1E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Platform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Capital Raise  •  CAD $5.0 Million Proof-of-Concept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43329"/>
          </a:solidFill>
          <a:ln w="12700">
            <a:solidFill>
              <a:srgbClr val="B79A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06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4.7M RAISED / COMMITTED
</a:t>
            </a:r>
            <a:pPr indent="0" marL="0">
              <a:buNone/>
            </a:pPr>
            <a:r>
              <a:rPr lang="en-US" sz="12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$4.5M Existing Investors  •  CAD $0.2M GP Alignment
</a:t>
            </a:r>
            <a:pPr indent="0" marL="0">
              <a:buNone/>
            </a:pPr>
            <a:r>
              <a:rPr lang="en-US" sz="13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$0.3M Remainder Sought to Close Phase 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PROGRAMME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E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$25M — 12 Year Platform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12: 1,000 tonnes  •  CAD $10.48M Revenue  •  36% EBITDA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6201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CDC Indigenous Ownership &amp; Control  •  Bank-Trigger After Phase 1-2 Gates  •  Pension-Ready Post Phase 2 Proof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Bank &amp; Pension Fund Business Plan v1.0  |  Reconciled Investment Memorandum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Milestone-gated Indigenous agricultural infrastructure platform focused on premium Canadian garlic, disease-tested planting stock, controlled curing/storage, and CDC-led community ownership (51%).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$5.0M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proof-of-concept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214884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/ COMMITTED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$4.7M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 investors + $0.2M GP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14884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SOUGHT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$0.3M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8912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Phase 1 capital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74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$25M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12-year national platform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33832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68880" y="3474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t/yr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46888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Bulbs + scape revenue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33832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0" y="3474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EBITDA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$3.78M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38912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management case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214884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1C2A2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POSITIONING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6060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Commercial Banks
</a:t>
            </a:r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Pre-bankable specialty agriculture platform. Senior debt eligibility after Phase 1-2 operating proof, site control, buyer evidence and security review.
</a:t>
            </a:r>
            <a:pPr indent="0" marL="0">
              <a:buNone/>
            </a:pPr>
            <a:r>
              <a:rPr lang="en-US" sz="1100" b="1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Pension Funds
</a:t>
            </a:r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Long-duration real asset / Indigenous economic participation platform. Most suitable after Phase 2 operating validation.
</a:t>
            </a:r>
            <a:pPr indent="0" marL="0">
              <a:buNone/>
            </a:pPr>
            <a:r>
              <a:rPr lang="en-US" sz="1100" b="1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Alignment
</a:t>
            </a:r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$200k cash commitment from GP/sponsor demonstrates skin-in-the-game alongside existing investor capital.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Domestic Garlic Supply — Not Commodity Import Displacement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7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2,077 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2024 Production (AAFC)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7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26,453 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Garlic Imports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7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~93.8%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Dependency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123444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7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8972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Platform Share of Apparent Consumption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FIVE-STREAM REVENUE MODEL (Year 12 Base Case)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11247120" cy="292608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  <a:gridCol w="1828800"/>
                <a:gridCol w="1828800"/>
                <a:gridCol w="118872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(CAD/kg)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Seed / Disease-Tested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Culinary Garlic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Garlic (finished equiv.)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Scapes / Specialty Byproduct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t + byproduct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$10.48/kg weighted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$10.48M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discipline: All model prices are farmgate/net realized after channel margins, freight, packaging and shrink. Buyer LOIs and trial validation required before Phase 2 underwriting.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CAPITAL RAISE — CAD $5.0M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financing for pilot site, premium seed stock, storage/equipment, operating team, certification launch, agronomy and working capital.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CAPITAL — PHASE 1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48640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(CAD)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Investors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/ Committed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/ Sponsor Alignment (Cash)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 — Skin in the Game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Capital Sought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Final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Targeted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USE OF FUNDS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Prep &amp; Irrigation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09360" y="1901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$1.0M  (20%)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052560" y="155448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0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Seed &amp; Biosecurity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0" y="1901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 (30%)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233172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404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Curing &amp; Equipment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2679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$1.0M  (20%)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52560" y="233172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2404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Agronomy &amp; Ops (Yr 1-3)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0" y="2679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$0.8M  (16%)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10896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3182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Certification, Legal &amp; FPIC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09360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$0.4M  (8%)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052560" y="310896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CF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0" y="3182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Contingency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144000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$0.3M  (6%)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4023360"/>
            <a:ext cx="11247120" cy="1463040"/>
          </a:xfrm>
          <a:prstGeom prst="roundRect">
            <a:avLst>
              <a:gd name="adj" fmla="val 3750"/>
            </a:avLst>
          </a:prstGeom>
          <a:solidFill>
            <a:srgbClr val="1C2A22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4160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ALIGNMENT &amp; INVESTOR PROTECTION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" y="44805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GP/sponsor has committed CAD $200,000 in cash alongside existing investors, demonstrating full alignment. Phase 1 capital will be deployed only after documented conditions precedent (COO appointment, pilot site control, FPIC pathway, soil/water confirmation, seed plan and lender-grade model). All capital is milestone-gated; no automatic release for Phase 2/3 without evidence.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USE OF FUNDS — PHASE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$5.0 Million | Pilot Site Development, Inventory Build &amp; Operating Platform (Years 1–3)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594360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Activities &amp; Deliverables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/ Site Preparation &amp; Irrigation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$1,000,000 (20%)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site lease/acquisition path, soil remediation, irrigation infrastructure, drainage, fencing, access roads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Seed Stock &amp; Biosecurity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$1,500,000 (30%)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Disease-tested, CFIA-compliant seed garlic inventory for Yr1-3 planting; storage protocols; traceability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Storage, Curing &amp; Equipment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$1,000,000 (20%)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Climate-controlled curing/storage facility (pilot scale), grading/sorting equipment, handling systems, monitoring 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Team &amp; Agronomy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$800,000 (16%)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COO/operator appointment, seasonal &amp; permanent labour (Yr1-3), independent agronomist, training, health &amp;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Certification, Compliance &amp; Legal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$400,000 (8%)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transition planning &amp; certification body engagement, FPIC/community agreements, corporate structuring, insurance placement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&amp; Contingency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 (6%)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operating runway, input purchases, logistics, professional fees, 10% contingency reserve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$5,000,000 (100%)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funds deployed under documented gate controls and quarterly reporting to investors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440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Detailed budgets, quotes and vendor selection will be provided in data room. Phase 1 capital release is subject to Gate 1 conditions precedent and independent review where required.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ROADMAP &amp; PHASE GATES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12-YEAR MILESTONE-GATED PROGRAMME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B79A6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 1-3  •  $5.0M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/ ~80-120 t by Yr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5F7265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 4-7  •  $7.5M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 / 2 sites + organic cert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14300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2D5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 8-12  •  $12.5M*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 / 4 sites national scale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*Phase 3 capital illustrative; actual amounts subject to Phase 2 performance and lender/investor approval. Full programme base case reconciled to $25M.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PHASE GATES (CONDITIONS PRECEDENT)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247120" cy="210312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393192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Pre-Phase 1 draw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 appointed, Pilot site secured, FPIC pathway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Agreements, site file, community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1A/1B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Pre-plant &amp; post-harvest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Soil/water confirmed, Yield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results, harvest/grade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loss &lt;8%, 70%+ Grade A, 30%+ buyer LOIs, Organic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Logs, QA records, LOIs, certification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Phase 3 /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 package complete, DSCR model 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financial model, security, insurance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 — BASE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Management Case (Reconciled to Bank &amp; Pension Fund Business Plan v1.0)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C2A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$10.48M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$10.48/kg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14300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C2A2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EBITDA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$3.78M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margin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14300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C2A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$1.53M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maint. capex &amp; WC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235440" y="114300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C2A22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MATURE DSCR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A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1.6x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req.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7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REVENUE RAMP (SELECT YEARS)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219456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55448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EA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Saleable Production (t)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(CAD $M)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~0.8-1.3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(CAD $M)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to breakeven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Operational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/ NPV / DSCR targets are sponsor-model references only. Bank underwriting relies on cash flow, security, buyer evidence, covenants and full downside cases. Monthly seasonal model validation required.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MITIGANTS &amp; INSTITUTIONAL FIT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TO UNDERWRITE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Yield variance &amp; white rot/disease pressure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Storage loss / post-harvest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Buyer offtake concentration or failure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Certification / regulatory delay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Water availability / drought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Community / FPIC approval timing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Working capital &amp; capex overrun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295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Financing availability for later phases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5577840" cy="4572000"/>
          </a:xfrm>
          <a:prstGeom prst="roundRect">
            <a:avLst>
              <a:gd name="adj" fmla="val 1200"/>
            </a:avLst>
          </a:prstGeom>
          <a:solidFill>
            <a:srgbClr val="1C2A2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MITIGANTS &amp; CONTROLS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23444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Gate-controlled capital release (no automatic Phase 2/3 funding)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agronomic review &amp; soil/water testing pre-plant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loss gate &lt;8% with monitoring tech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Buyer validation (LOIs/trials) required at Gate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51% CDC ownership with FPIC documentation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indications targeted pre-draw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Quarterly reporting &amp; data-room transparency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Downside scenario: 28% EBITDA, covenant reset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Residual risks rated medium pending 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3840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&amp; PENSION FIT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1148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banks: Pre-bankable now; senior debt post Phase 1-2 proof. Pension funds: Long-duration real asset / Indigenous participation; suitable after Phase 2 operating data.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" y="365760"/>
            <a:ext cx="164592" cy="164592"/>
          </a:xfrm>
          <a:prstGeom prst="rect">
            <a:avLst/>
          </a:prstGeom>
          <a:solidFill>
            <a:srgbClr val="C9A95A"/>
          </a:solidFill>
          <a:ln w="12700">
            <a:solidFill>
              <a:srgbClr val="C9A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CORPORATION CANADA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51215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$300,000 FINAL CLOSE — 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seeking aligned investors or lenders to complete the CAD $5.0M Phase 1 raise. Existing investors have committed CAD $4.5M; the GP/sponsor has committed CAD $200k cash to demonstrate alignment.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243329"/>
          </a:solidFill>
          <a:ln w="12700">
            <a:solidFill>
              <a:srgbClr val="B79A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ROOM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model, site files, agronomic reports, buyer pipeline and legal structure available under NDA for qualified parties.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243329"/>
          </a:solidFill>
          <a:ln w="12700">
            <a:solidFill>
              <a:srgbClr val="B79A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TIMELINE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743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close within 45-60 days. Gate 1 conditions precedent documentation in progress; COO recruitment and site selection advanced.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243329"/>
          </a:solidFill>
          <a:ln w="12700">
            <a:solidFill>
              <a:srgbClr val="B79A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COMMITMENT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743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$200k cash from GP/sponsor confirms full alignment with investor capital and long-term platform success.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6201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NEXT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the data room link, term sheet outline or schedule a diligence call, please contact the FE Corporation Canada team.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financing remains subject to independent legal, financial, agronomic, tax, regulatory and community due diligence. This document is a confidential discussion draft only and does not constitute an offering memorandum, prospectus, loan commitment, guarantee approval or binding proposal.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only. Not an offering memorandum, loan commitment or binding proposal. All figures subject to due diligence.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02975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Indigenous Garlic Infrastructure Platform - Phase 1 Capital Raise</dc:title>
  <dc:subject>Confidential Investor &amp; Lender Briefing | May 2026</dc:subject>
  <dc:creator>FE Corporation Canada</dc:creator>
  <cp:lastModifiedBy>FE Corporation Canada</cp:lastModifiedBy>
  <cp:revision>1</cp:revision>
  <dcterms:created xsi:type="dcterms:W3CDTF">2026-06-29T18:51:33Z</dcterms:created>
  <dcterms:modified xsi:type="dcterms:W3CDTF">2026-06-29T18:51:33Z</dcterms:modified>
</cp:coreProperties>
</file>